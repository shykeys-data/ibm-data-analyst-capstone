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16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3" autoAdjust="0"/>
    <p:restoredTop sz="91480" autoAdjust="0"/>
  </p:normalViewPr>
  <p:slideViewPr>
    <p:cSldViewPr snapToGrid="0">
      <p:cViewPr varScale="1">
        <p:scale>
          <a:sx n="71" d="100"/>
          <a:sy n="71" d="100"/>
        </p:scale>
        <p:origin x="43" y="202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notesMaster" Target="notesMasters/notesMaster1.xml"/><Relationship Id="rId26" Type="http://schemas.openxmlformats.org/officeDocument/2006/relationships/tags" Target="tags/tag1.xml"/><Relationship Id="rId27" Type="http://schemas.openxmlformats.org/officeDocument/2006/relationships/commentAuthors" Target="commentAuthors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Number of Job Postings by Technology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Job Postings by Technology</c:v>
                </c:pt>
              </c:strCache>
            </c:strRef>
          </c:tx>
          <c:spPr>
            <a:solidFill>
              <a:srgbClr val="ED832A"/>
            </a:solidFill>
          </c:spPr>
          <c:cat>
            <c:strRef>
              <c:f>Sheet1!$A$2:$A$13</c:f>
              <c:strCache>
                <c:ptCount val="12"/>
                <c:pt idx="0">
                  <c:v>JavaScript</c:v>
                </c:pt>
                <c:pt idx="1">
                  <c:v>Java</c:v>
                </c:pt>
                <c:pt idx="2">
                  <c:v>Python</c:v>
                </c:pt>
                <c:pt idx="3">
                  <c:v>C</c:v>
                </c:pt>
                <c:pt idx="4">
                  <c:v>Oracle</c:v>
                </c:pt>
                <c:pt idx="5">
                  <c:v>C++</c:v>
                </c:pt>
                <c:pt idx="6">
                  <c:v>C#</c:v>
                </c:pt>
                <c:pt idx="7">
                  <c:v>SQL Server</c:v>
                </c:pt>
                <c:pt idx="8">
                  <c:v>MongoDB</c:v>
                </c:pt>
                <c:pt idx="9">
                  <c:v>Scala</c:v>
                </c:pt>
                <c:pt idx="10">
                  <c:v>PostgreSQL</c:v>
                </c:pt>
                <c:pt idx="11">
                  <c:v>MySQL Server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2241</c:v>
                </c:pt>
                <c:pt idx="1">
                  <c:v>1209</c:v>
                </c:pt>
                <c:pt idx="2">
                  <c:v>1165</c:v>
                </c:pt>
                <c:pt idx="3">
                  <c:v>817</c:v>
                </c:pt>
                <c:pt idx="4">
                  <c:v>614</c:v>
                </c:pt>
                <c:pt idx="5">
                  <c:v>496</c:v>
                </c:pt>
                <c:pt idx="6">
                  <c:v>487</c:v>
                </c:pt>
                <c:pt idx="7">
                  <c:v>310</c:v>
                </c:pt>
                <c:pt idx="8">
                  <c:v>208</c:v>
                </c:pt>
                <c:pt idx="9">
                  <c:v>89</c:v>
                </c:pt>
                <c:pt idx="10">
                  <c:v>86</c:v>
                </c:pt>
                <c:pt idx="1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Average Annual Salary by Programming Language (USD)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Salary by Programming Language (USD)</c:v>
                </c:pt>
              </c:strCache>
            </c:strRef>
          </c:tx>
          <c:spPr>
            <a:solidFill>
              <a:srgbClr val="ED832A"/>
            </a:solidFill>
          </c:spPr>
          <c:cat>
            <c:strRef>
              <c:f>Sheet1!$A$2:$A$11</c:f>
              <c:strCache>
                <c:ptCount val="10"/>
                <c:pt idx="0">
                  <c:v>Swift</c:v>
                </c:pt>
                <c:pt idx="1">
                  <c:v>Python</c:v>
                </c:pt>
                <c:pt idx="2">
                  <c:v>C++</c:v>
                </c:pt>
                <c:pt idx="3">
                  <c:v>Javascript</c:v>
                </c:pt>
                <c:pt idx="4">
                  <c:v>Java</c:v>
                </c:pt>
                <c:pt idx="5">
                  <c:v>Go</c:v>
                </c:pt>
                <c:pt idx="6">
                  <c:v>R</c:v>
                </c:pt>
                <c:pt idx="7">
                  <c:v>C#</c:v>
                </c:pt>
                <c:pt idx="8">
                  <c:v>SQL</c:v>
                </c:pt>
                <c:pt idx="9">
                  <c:v>PHP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130801</c:v>
                </c:pt>
                <c:pt idx="1">
                  <c:v>114383</c:v>
                </c:pt>
                <c:pt idx="2">
                  <c:v>113865</c:v>
                </c:pt>
                <c:pt idx="3">
                  <c:v>110981</c:v>
                </c:pt>
                <c:pt idx="4">
                  <c:v>101013</c:v>
                </c:pt>
                <c:pt idx="5">
                  <c:v>94082</c:v>
                </c:pt>
                <c:pt idx="6">
                  <c:v>92037</c:v>
                </c:pt>
                <c:pt idx="7">
                  <c:v>88726</c:v>
                </c:pt>
                <c:pt idx="8">
                  <c:v>84793</c:v>
                </c:pt>
                <c:pt idx="9">
                  <c:v>84727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image" Target="../media/image1.png"/><Relationship Id="rId10" Type="http://schemas.microsoft.com/office/2007/relationships/hdphoto" Target="../media/hdphoto1.wdp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image" Target="../media/image4.png"/><Relationship Id="rId14" Type="http://schemas.openxmlformats.org/officeDocument/2006/relationships/image" Target="../media/image5.svg"/><Relationship Id="rId15" Type="http://schemas.openxmlformats.org/officeDocument/2006/relationships/image" Target="../media/image6.png"/><Relationship Id="rId16" Type="http://schemas.openxmlformats.org/officeDocument/2006/relationships/image" Target="../media/image7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4" Type="http://schemas.openxmlformats.org/officeDocument/2006/relationships/customXml" Target="../ink/ink1.xml"/><Relationship Id="rId5" Type="http://schemas.openxmlformats.org/officeDocument/2006/relationships/image" Target="../media/image10.png"/><Relationship Id="rId6" Type="http://schemas.openxmlformats.org/officeDocument/2006/relationships/customXml" Target="../ink/ink2.xml"/><Relationship Id="rId7" Type="http://schemas.openxmlformats.org/officeDocument/2006/relationships/customXml" Target="../ink/ink3.xml"/><Relationship Id="rId8" Type="http://schemas.openxmlformats.org/officeDocument/2006/relationships/customXml" Target="../ink/ink4.xml"/><Relationship Id="rId9" Type="http://schemas.openxmlformats.org/officeDocument/2006/relationships/image" Target="../media/image11.png"/><Relationship Id="rId10" Type="http://schemas.openxmlformats.org/officeDocument/2006/relationships/customXml" Target="../ink/ink5.xml"/><Relationship Id="rId11" Type="http://schemas.openxmlformats.org/officeDocument/2006/relationships/customXml" Target="../ink/ink6.xml"/><Relationship Id="rId12" Type="http://schemas.openxmlformats.org/officeDocument/2006/relationships/customXml" Target="../ink/ink7.xml"/><Relationship Id="rId13" Type="http://schemas.openxmlformats.org/officeDocument/2006/relationships/customXml" Target="../ink/ink8.xml"/><Relationship Id="rId14" Type="http://schemas.openxmlformats.org/officeDocument/2006/relationships/customXml" Target="../ink/ink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3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3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7.png"/><Relationship Id="rId4" Type="http://schemas.openxmlformats.org/officeDocument/2006/relationships/hyperlink" Target="https://github.com/shykeys-data/ibm-data-analyst-capstone/blob/main/Developer_Survey_Dashboard.pdf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US" dirty="0"/>
              <a:t>Developer Technology Trends 2024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Oshunwusi Oluwaseyi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October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389349" y="1630528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Key findings from ~65,000 developer survey responses</a:t>
            </a:r>
          </a:p>
          <a:p>
            <a:pPr/>
            <a:r>
              <a:rPr lang="en-US" sz="1500" dirty="0"/>
              <a:t>Web stacks (HTML/CSS, JavaScript, TypeScript) dominate today and next year</a:t>
            </a:r>
          </a:p>
          <a:p>
            <a:pPr/>
            <a:r>
              <a:rPr lang="en-US" sz="1500" dirty="0"/>
              <a:t>Database and platform leaders:</a:t>
            </a:r>
          </a:p>
          <a:p>
            <a:pPr lvl="1"/>
            <a:r>
              <a:rPr lang="en-US" sz="1300" dirty="0"/>
              <a:t>PostgreSQL is the top database and grows next year (994 to 1,265)</a:t>
            </a:r>
          </a:p>
          <a:p>
            <a:pPr lvl="1"/>
            <a:r>
              <a:rPr lang="en-US" sz="1300" dirty="0"/>
              <a:t>AWS and Microsoft Azure lead cloud platforms</a:t>
            </a:r>
          </a:p>
          <a:p>
            <a:pPr lvl="1"/>
            <a:r>
              <a:rPr lang="en-US" sz="1300" dirty="0"/>
              <a:t>React, Node.js and Spring Boot lead web frameworks</a:t>
            </a:r>
          </a:p>
          <a:p>
            <a:pPr/>
            <a:r>
              <a:rPr lang="en-US" sz="1500" dirty="0"/>
              <a:t>Python enters next year's top 10 on its own; C# grows (97 to 134)</a:t>
            </a:r>
          </a:p>
          <a:p>
            <a:pPr/>
            <a:r>
              <a:rPr lang="en-US" sz="1500" dirty="0"/>
              <a:t>Most respondents are aged 25-34 (41%) with a Bachelor's degree</a:t>
            </a:r>
          </a:p>
          <a:p>
            <a:pPr/>
            <a:r>
              <a:rPr lang="en-US" sz="1500" dirty="0"/>
              <a:t>Recommendation: prioritise JavaScript/TypeScript, SQL/PostgreSQL and cloud skills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" y="2136507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Purpose, audience and value of this analysis</a:t>
            </a:r>
            <a:endParaRPr lang="en-US" sz="2200" dirty="0">
              <a:solidFill>
                <a:schemeClr val="bg1">
                  <a:lumMod val="75000"/>
                </a:schemeClr>
              </a:solidFill>
            </a:endParaRPr>
          </a:p>
          <a:p>
            <a:pPr/>
            <a:r>
              <a:rPr lang="en-US" sz="1500" dirty="0">
                <a:solidFill>
                  <a:schemeClr val="tx1"/>
                </a:solidFill>
              </a:rPr>
              <a:t>Purpose: identify which technology skills are in demand now and next year</a:t>
            </a:r>
          </a:p>
          <a:p>
            <a:pPr/>
            <a:r>
              <a:rPr lang="en-US" sz="1500" dirty="0">
                <a:solidFill>
                  <a:schemeClr val="tx1"/>
                </a:solidFill>
              </a:rPr>
              <a:t>Data: 2024 Stack Overflow Developer Survey (65,437 respondents after cleaning)</a:t>
            </a:r>
          </a:p>
          <a:p>
            <a:pPr/>
            <a:r>
              <a:rPr lang="en-US" sz="1500" dirty="0">
                <a:solidFill>
                  <a:schemeClr val="tx1"/>
                </a:solidFill>
              </a:rPr>
              <a:t>Audience: learners, hiring managers and training teams</a:t>
            </a:r>
          </a:p>
          <a:p>
            <a:pPr/>
            <a:r>
              <a:rPr lang="en-US" sz="1500" dirty="0">
                <a:solidFill>
                  <a:schemeClr val="tx1"/>
                </a:solidFill>
              </a:rPr>
              <a:t>Value: guides where to invest learning and hiring effort</a:t>
            </a:r>
          </a:p>
          <a:p>
            <a:pPr lvl="1"/>
            <a:r>
              <a:rPr lang="en-US" sz="1300" dirty="0">
                <a:solidFill>
                  <a:schemeClr val="tx1"/>
                </a:solidFill>
              </a:rPr>
              <a:t>Which tools are used today vs wanted next year?</a:t>
            </a:r>
          </a:p>
          <a:p>
            <a:pPr lvl="1"/>
            <a:r>
              <a:rPr lang="en-US" sz="1300" dirty="0">
                <a:solidFill>
                  <a:schemeClr val="tx1"/>
                </a:solidFill>
              </a:rPr>
              <a:t>Who are the respondents (age, country, education)?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/>
              <a:t>Data sources, collection and wrangling steps (Modules 1-5)</a:t>
            </a:r>
          </a:p>
          <a:p>
            <a:pPr/>
            <a:r>
              <a:rPr lang="en-US" sz="1400" dirty="0"/>
              <a:t>M1 Collection: job API (requests), salary table scraping (BeautifulSoup), survey CSV</a:t>
            </a:r>
          </a:p>
          <a:p>
            <a:pPr/>
            <a:r>
              <a:rPr lang="en-US" sz="1400" dirty="0"/>
              <a:t>M2 Wrangling: removed duplicate rows (65,457 to 65,437); filled missing values</a:t>
            </a:r>
          </a:p>
          <a:p>
            <a:pPr lvl="1"/>
            <a:r>
              <a:rPr lang="en-US" sz="1200" dirty="0"/>
              <a:t>Mode for text (EdLevel, RemoteWork), median for salary (64% missing)</a:t>
            </a:r>
          </a:p>
          <a:p>
            <a:pPr lvl="1"/>
            <a:r>
              <a:rPr lang="en-US" sz="1200" dirty="0"/>
              <a:t>Normalised salary with Min-Max, Z-score and log transform</a:t>
            </a:r>
          </a:p>
          <a:p>
            <a:pPr/>
            <a:r>
              <a:rPr lang="en-US" sz="1400" dirty="0"/>
              <a:t>M3 EDA: distributions, IQR outliers (978 removed above $220,861), correlations</a:t>
            </a:r>
          </a:p>
          <a:p>
            <a:pPr/>
            <a:r>
              <a:rPr lang="en-US" sz="1400" dirty="0"/>
              <a:t>M4 Visualisation: SQL (SQLite) + matplotlib/seaborn charts</a:t>
            </a:r>
          </a:p>
          <a:p>
            <a:pPr/>
            <a:r>
              <a:rPr lang="en-US" sz="1400" dirty="0"/>
              <a:t>M5 Dashboard: IBM Cognos Analytics, 3 tabs, Top 10 by respondent count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468" y="2101175"/>
            <a:ext cx="2972979" cy="2972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D1E5C-FB56-616C-9776-6EF59DA07045}"/>
              </a:ext>
            </a:extLst>
          </p:cNvPr>
          <p:cNvSpPr txBox="1"/>
          <p:nvPr/>
        </p:nvSpPr>
        <p:spPr>
          <a:xfrm>
            <a:off x="3818965" y="3126000"/>
            <a:ext cx="7413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</a:pPr>
            <a:r>
              <a:rPr lang="en-US" sz="1800" dirty="0"/>
              <a:t>Charts of current vs future technology trends, followed by the dashboard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383051"/>
            <a:ext cx="5833456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5750000"/>
            <a:ext cx="10400000" cy="5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300"/>
              <a:t>Source: job-postings-skills-exact.xlsx (Module 1, Jobs API, exact skill matching). JavaScript leads (2,241), followed by Java (1,209) and Python (1,165).</a:t>
            </a:r>
            <a:endParaRPr lang="en-US" sz="2200" dirty="0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914400" y="1500000"/>
          <a:ext cx="10400000" cy="42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6" y="383051"/>
            <a:ext cx="105000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914400" y="5750000"/>
            <a:ext cx="10400000" cy="5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300"/>
              <a:t>Source: popular-languages.csv (Module 1, web scraping). Swift pays the most ($130,801); PHP the least ($84,727).</a:t>
            </a:r>
            <a:endParaRPr lang="en-US" sz="2200" dirty="0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14400" y="1500000"/>
          <a:ext cx="10400000" cy="42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4305" y="2063170"/>
            <a:ext cx="3500000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3170"/>
            <a:ext cx="3500000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C5862-9AB9-9679-23B5-A950E973AFB5}"/>
              </a:ext>
            </a:extLst>
          </p:cNvPr>
          <p:cNvSpPr txBox="1"/>
          <p:nvPr/>
        </p:nvSpPr>
        <p:spPr>
          <a:xfrm>
            <a:off x="924305" y="1475244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JavaScript/TypeScript web stacks lead both years; Python and C# rise as single languages next year</a:t>
            </a:r>
          </a:p>
        </p:txBody>
      </p:sp>
      <p:pic>
        <p:nvPicPr>
          <p:cNvPr id="12" name="Picture 11" descr="lang_n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00" y="2937245"/>
            <a:ext cx="5400000" cy="2975510"/>
          </a:xfrm>
          <a:prstGeom prst="rect">
            <a:avLst/>
          </a:prstGeom>
        </p:spPr>
      </p:pic>
      <p:pic>
        <p:nvPicPr>
          <p:cNvPr id="13" name="Picture 12" descr="lang_n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000" y="2937245"/>
            <a:ext cx="5400000" cy="297551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pPr/>
            <a:r>
              <a:rPr lang="en-US" dirty="0" sz="1500"/>
              <a:t>HTML/CSS + JavaScript + TypeScript is the most common stack today (291)</a:t>
            </a:r>
          </a:p>
          <a:p>
            <a:pPr/>
            <a:r>
              <a:rPr lang="en-US" dirty="0" sz="1500"/>
              <a:t>Every top 10 stack includes JavaScript or C#; SQL appears in 7 of 10</a:t>
            </a:r>
          </a:p>
          <a:p>
            <a:pPr/>
            <a:r>
              <a:rPr lang="en-US" dirty="0" sz="1500"/>
              <a:t>Next year Python enters the top 10 alone (104); C# alone grows 97 to 134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pPr/>
            <a:r>
              <a:rPr lang="en-US" dirty="0" sz="1500"/>
              <a:t>JavaScript and TypeScript remain essential for web developers</a:t>
            </a:r>
          </a:p>
          <a:p>
            <a:pPr/>
            <a:r>
              <a:rPr lang="en-US" dirty="0" sz="1500"/>
              <a:t>SQL is a core skill alongside any language stack</a:t>
            </a:r>
          </a:p>
          <a:p>
            <a:pPr/>
            <a:r>
              <a:rPr lang="en-US" dirty="0" sz="1500"/>
              <a:t>Rising Python and C# interest points to data, AI and enterprise growth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2065128"/>
            <a:ext cx="3500000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5127"/>
            <a:ext cx="3500000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A0CDF-0FE0-1DE3-5B09-44D4318623B8}"/>
              </a:ext>
            </a:extLst>
          </p:cNvPr>
          <p:cNvSpPr txBox="1"/>
          <p:nvPr/>
        </p:nvSpPr>
        <p:spPr>
          <a:xfrm>
            <a:off x="881252" y="1476527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PostgreSQL leads today and widens its lead next year; MySQL declines</a:t>
            </a:r>
          </a:p>
        </p:txBody>
      </p:sp>
      <p:pic>
        <p:nvPicPr>
          <p:cNvPr id="8" name="Picture 7" descr="db_n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00" y="2977273"/>
            <a:ext cx="5400000" cy="2945454"/>
          </a:xfrm>
          <a:prstGeom prst="rect">
            <a:avLst/>
          </a:prstGeom>
        </p:spPr>
      </p:pic>
      <p:pic>
        <p:nvPicPr>
          <p:cNvPr id="9" name="Picture 8" descr="db_n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000" y="2977273"/>
            <a:ext cx="5400000" cy="29454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pPr/>
            <a:r>
              <a:rPr lang="en-US" dirty="0" sz="1500"/>
              <a:t>PostgreSQL leads today (994) and grows next year (1,265, +27%)</a:t>
            </a:r>
          </a:p>
          <a:p>
            <a:pPr/>
            <a:r>
              <a:rPr lang="en-US" dirty="0" sz="1500"/>
              <a:t>Microsoft SQL Server is second in both years (689 to 622)</a:t>
            </a:r>
          </a:p>
          <a:p>
            <a:pPr/>
            <a:r>
              <a:rPr lang="en-US" dirty="0" sz="1500"/>
              <a:t>MySQL declines (395 to 342); PostgreSQL + SQLite/Redis pairings grow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pPr/>
            <a:r>
              <a:rPr lang="en-US" dirty="0" sz="1500"/>
              <a:t>PostgreSQL is the safest database skill to invest in</a:t>
            </a:r>
          </a:p>
          <a:p>
            <a:pPr/>
            <a:r>
              <a:rPr lang="en-US" dirty="0" sz="1500"/>
              <a:t>Lightweight (SQLite) and caching (Redis) tools are gaining ground</a:t>
            </a:r>
          </a:p>
          <a:p>
            <a:pPr/>
            <a:r>
              <a:rPr lang="en-US" dirty="0" sz="1500"/>
              <a:t>SQL Server stays important in enterprise environments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 dirty="0"/>
              <a:t>IBM Cognos Analytics dashboard with 3 tabs: Current Technology Usage, Future Technology Trends, Demographics. GitHub link: </a:t>
            </a:r>
            <a:r>
              <a:rPr sz="1800">
                <a:hlinkClick r:id="rId4"/>
              </a:rPr>
              <a:t>https://github.com/shykeys-data/ibm-data-analyst-capstone/blob/main/Developer_Survey_Dashboard.pdf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365125"/>
            <a:ext cx="11087100" cy="985693"/>
          </a:xfrm>
        </p:spPr>
        <p:txBody>
          <a:bodyPr anchor="ctr">
            <a:noAutofit/>
          </a:bodyPr>
          <a:lstStyle/>
          <a:p>
            <a:r>
              <a:rPr lang="en-US" dirty="0" sz="2800"/>
              <a:t>DASHBOARD TAB 1: Current Technology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FB03-F857-3EC0-249E-AE03F3915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00000" y="1600000"/>
            <a:ext cx="3450000" cy="4600000"/>
          </a:xfrm>
        </p:spPr>
        <p:txBody>
          <a:bodyPr/>
          <a:lstStyle/>
          <a:p>
            <a:pPr marL="0" indent="0">
              <a:buNone/>
            </a:pPr>
            <a:r>
              <a:rPr lang="en-US" dirty="0" b="1" sz="1800"/>
              <a:t>Dashboard Insight</a:t>
            </a:r>
          </a:p>
          <a:p>
            <a:pPr/>
            <a:r>
              <a:rPr lang="en-US" dirty="0" sz="1500"/>
              <a:t>HTML/CSS + JavaScript + TypeScript is the top language stack (291)</a:t>
            </a:r>
          </a:p>
          <a:p>
            <a:pPr/>
            <a:r>
              <a:rPr lang="en-US" dirty="0" sz="1500"/>
              <a:t>PostgreSQL is the most-used database (994)</a:t>
            </a:r>
          </a:p>
          <a:p>
            <a:pPr/>
            <a:r>
              <a:rPr lang="en-US" dirty="0" sz="1500"/>
              <a:t>AWS is the most-used platform</a:t>
            </a:r>
          </a:p>
          <a:p>
            <a:pPr/>
            <a:r>
              <a:rPr lang="en-US" dirty="0" sz="1500"/>
              <a:t>Spring Boot and React lead web frameworks</a:t>
            </a:r>
          </a:p>
        </p:txBody>
      </p:sp>
      <p:pic>
        <p:nvPicPr>
          <p:cNvPr id="4" name="Picture 3" descr="ta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600000"/>
            <a:ext cx="7600000" cy="44207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365125"/>
            <a:ext cx="11055926" cy="985693"/>
          </a:xfrm>
        </p:spPr>
        <p:txBody>
          <a:bodyPr anchor="ctr">
            <a:normAutofit fontScale="90000"/>
          </a:bodyPr>
          <a:lstStyle/>
          <a:p>
            <a:r>
              <a:rPr lang="en-US" dirty="0" sz="2800"/>
              <a:t>DASHBOARD TAB 2: Future Technology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00000" y="1600000"/>
            <a:ext cx="3450000" cy="4600000"/>
          </a:xfrm>
        </p:spPr>
        <p:txBody>
          <a:bodyPr/>
          <a:lstStyle/>
          <a:p>
            <a:pPr marL="0" indent="0">
              <a:buNone/>
            </a:pPr>
            <a:r>
              <a:rPr lang="en-US" dirty="0" b="1" sz="1800"/>
              <a:t>Dashboard Insight</a:t>
            </a:r>
          </a:p>
          <a:p>
            <a:pPr/>
            <a:r>
              <a:rPr lang="en-US" dirty="0" sz="1500"/>
              <a:t>Web stacks still lead future plans</a:t>
            </a:r>
          </a:p>
          <a:p>
            <a:pPr/>
            <a:r>
              <a:rPr lang="en-US" dirty="0" sz="1500"/>
              <a:t>PostgreSQL demand rises to 1,265</a:t>
            </a:r>
          </a:p>
          <a:p>
            <a:pPr/>
            <a:r>
              <a:rPr lang="en-US" dirty="0" sz="1500"/>
              <a:t>AWS and Microsoft Azure lead wanted platforms</a:t>
            </a:r>
          </a:p>
          <a:p>
            <a:pPr/>
            <a:r>
              <a:rPr lang="en-US" dirty="0" sz="1500"/>
              <a:t>Python appears alone in the top 10</a:t>
            </a:r>
          </a:p>
        </p:txBody>
      </p:sp>
      <p:pic>
        <p:nvPicPr>
          <p:cNvPr id="4" name="Picture 3" descr="ta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600000"/>
            <a:ext cx="7600000" cy="44207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0" cy="985693"/>
          </a:xfrm>
        </p:spPr>
        <p:txBody>
          <a:bodyPr anchor="ctr">
            <a:normAutofit/>
          </a:bodyPr>
          <a:lstStyle/>
          <a:p>
            <a:r>
              <a:rPr lang="en-US" dirty="0" sz="2800"/>
              <a:t>DASHBOARD TAB 3: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00000" y="1600000"/>
            <a:ext cx="3450000" cy="4600000"/>
          </a:xfrm>
        </p:spPr>
        <p:txBody>
          <a:bodyPr/>
          <a:lstStyle/>
          <a:p>
            <a:pPr marL="0" indent="0">
              <a:buNone/>
            </a:pPr>
            <a:r>
              <a:rPr lang="en-US" dirty="0" b="1" sz="1800"/>
              <a:t>Dashboard Insight</a:t>
            </a:r>
          </a:p>
          <a:p>
            <a:pPr/>
            <a:r>
              <a:rPr lang="en-IN" dirty="0" sz="1500"/>
              <a:t>25-34 year olds are the largest group (41.3%)</a:t>
            </a:r>
            <a:endParaRPr lang="en-US" dirty="0"/>
          </a:p>
          <a:p>
            <a:pPr/>
            <a:r>
              <a:rPr lang="en-IN" dirty="0" sz="1500"/>
              <a:t>Bachelor's degree is most common (8,629), then Master's (5,000)</a:t>
            </a:r>
            <a:endParaRPr lang="en-US" dirty="0"/>
          </a:p>
          <a:p>
            <a:pPr/>
            <a:r>
              <a:rPr lang="en-IN" dirty="0" sz="1500"/>
              <a:t>USA and India have the most respondents</a:t>
            </a:r>
            <a:endParaRPr lang="en-US" dirty="0"/>
          </a:p>
          <a:p>
            <a:pPr/>
            <a:r>
              <a:rPr lang="en-IN" dirty="0" sz="1500"/>
              <a:t>25-44 year olds hold most degrees</a:t>
            </a:r>
            <a:endParaRPr lang="en-US" dirty="0"/>
          </a:p>
        </p:txBody>
      </p:sp>
      <p:pic>
        <p:nvPicPr>
          <p:cNvPr id="4" name="Picture 3" descr="ta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600000"/>
            <a:ext cx="7600000" cy="44207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282" y="2348628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1155" y="1825625"/>
            <a:ext cx="6272645" cy="4351338"/>
          </a:xfrm>
        </p:spPr>
        <p:txBody>
          <a:bodyPr/>
          <a:lstStyle/>
          <a:p>
            <a:pPr/>
            <a:r>
              <a:rPr lang="en-US" dirty="0" sz="1600"/>
              <a:t>Web technologies dominate both current use and future plans</a:t>
            </a:r>
          </a:p>
          <a:p>
            <a:pPr/>
            <a:r>
              <a:rPr lang="en-US" dirty="0" sz="1600"/>
              <a:t>Databases are consolidating around PostgreSQL</a:t>
            </a:r>
          </a:p>
          <a:p>
            <a:pPr/>
            <a:r>
              <a:rPr lang="en-US" dirty="0" sz="1600"/>
              <a:t>Cloud skills (AWS, Azure) are needed across roles</a:t>
            </a:r>
          </a:p>
          <a:p>
            <a:pPr/>
            <a:r>
              <a:rPr lang="en-US" dirty="0" sz="1600"/>
              <a:t>Limitation: multi-select answers analysed as combinations, so single-tool totals are understated</a:t>
            </a:r>
          </a:p>
          <a:p>
            <a:pPr/>
            <a:r>
              <a:rPr lang="en-US" dirty="0" sz="1600"/>
              <a:t>Limitation: respondents concentrated in the USA, India and Europe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pPr/>
            <a:r>
              <a:rPr lang="en-US" dirty="0" sz="1500"/>
              <a:t>JavaScript/TypeScript stacks lead now and next year</a:t>
            </a:r>
          </a:p>
          <a:p>
            <a:pPr/>
            <a:r>
              <a:rPr lang="en-US" dirty="0" sz="1500"/>
              <a:t>PostgreSQL is the top and fastest-growing database</a:t>
            </a:r>
          </a:p>
          <a:p>
            <a:pPr/>
            <a:r>
              <a:rPr lang="en-US" dirty="0" sz="1500"/>
              <a:t>Most respondents are 25-44 with a Bachelor's or Master's degree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pPr/>
            <a:r>
              <a:rPr lang="en-US" dirty="0" sz="1500"/>
              <a:t>Learners should build JavaScript, SQL and cloud skills first</a:t>
            </a:r>
          </a:p>
          <a:p>
            <a:pPr/>
            <a:r>
              <a:rPr lang="en-US" dirty="0" sz="1500"/>
              <a:t>Employers can expect a large talent pool in these technologies</a:t>
            </a:r>
          </a:p>
          <a:p>
            <a:pPr/>
            <a:r>
              <a:rPr lang="en-US" dirty="0" sz="1500"/>
              <a:t>Training should target early- to mid-career developers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sz="1800"/>
              <a:t>Developers centre on web technologies: HTML/CSS, JavaScript, TypeScript</a:t>
            </a:r>
          </a:p>
          <a:p>
            <a:pPr/>
            <a:r>
              <a:rPr lang="en-US" sz="1800"/>
              <a:t>PostgreSQL is the clear and growing database leader</a:t>
            </a:r>
          </a:p>
          <a:p>
            <a:pPr/>
            <a:r>
              <a:rPr lang="en-US" sz="1800"/>
              <a:t>Python and C# show rising interest for next year</a:t>
            </a:r>
          </a:p>
          <a:p>
            <a:pPr/>
            <a:r>
              <a:rPr lang="en-US" sz="1800"/>
              <a:t>These skills offer the strongest career and hiring value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sz="1400"/>
              <a:t>M2: salary median $65K vs mean $86K; extreme outliers up to $16M, so median was used</a:t>
            </a:r>
            <a:endParaRPr lang="en-US" dirty="0"/>
          </a:p>
          <a:p>
            <a:pPr/>
            <a:r>
              <a:rPr lang="en-US" sz="1400"/>
              <a:t>M3: IQR removed 978 salary outliers (about 4% of reported salaries)</a:t>
            </a:r>
            <a:endParaRPr lang="en-US" dirty="0"/>
          </a:p>
          <a:p>
            <a:pPr/>
            <a:r>
              <a:rPr lang="en-US" sz="1400"/>
              <a:t>M3: experience vs job satisfaction is very weak (Pearson 0.10, Spearman 0.12)</a:t>
            </a:r>
            <a:endParaRPr lang="en-US" dirty="0"/>
          </a:p>
          <a:p>
            <a:pPr/>
            <a:r>
              <a:rPr lang="en-US" sz="1400"/>
              <a:t>M4: pay rises with age and experience; remote workers earn the highest median in most age groups</a:t>
            </a:r>
            <a:endParaRPr lang="en-US" dirty="0"/>
          </a:p>
          <a:p>
            <a:pPr/>
            <a:r>
              <a:rPr lang="en-US" sz="1400"/>
              <a:t>M4: aged 25-34, developers spend ~45 min/day searching for answers vs ~22 min answering</a:t>
            </a:r>
            <a:endParaRPr lang="en-US" dirty="0"/>
          </a:p>
          <a:p>
            <a:pPr/>
            <a:r>
              <a:rPr lang="en-US" sz="1400"/>
              <a:t>Note: multi-select answers were counted as combinations in the dashboard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432</Words>
  <Application>Microsoft Office PowerPoint</Application>
  <PresentationFormat>Widescreen</PresentationFormat>
  <Paragraphs>117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Title</vt:lpstr>
      <vt:lpstr>PowerPoint Presentation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1: Current Technology Usage</vt:lpstr>
      <vt:lpstr>DASHBOARD TAB 2: Future Technology Trends</vt:lpstr>
      <vt:lpstr>DASHBOARD TAB 3: Demographics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pratiksha verma</cp:lastModifiedBy>
  <cp:revision>5</cp:revision>
  <dcterms:created xsi:type="dcterms:W3CDTF">2024-10-30T05:40:03Z</dcterms:created>
  <dcterms:modified xsi:type="dcterms:W3CDTF">2026-01-15T06:53:23Z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